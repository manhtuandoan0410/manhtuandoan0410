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85" r:id="rId3"/>
    <p:sldId id="257" r:id="rId4"/>
    <p:sldId id="282" r:id="rId5"/>
    <p:sldId id="284" r:id="rId6"/>
    <p:sldId id="283" r:id="rId7"/>
    <p:sldId id="270" r:id="rId8"/>
    <p:sldId id="277" r:id="rId9"/>
    <p:sldId id="287" r:id="rId10"/>
    <p:sldId id="278" r:id="rId11"/>
    <p:sldId id="259" r:id="rId12"/>
    <p:sldId id="279" r:id="rId13"/>
    <p:sldId id="258" r:id="rId14"/>
    <p:sldId id="289" r:id="rId15"/>
    <p:sldId id="308" r:id="rId16"/>
    <p:sldId id="307" r:id="rId17"/>
    <p:sldId id="309" r:id="rId18"/>
    <p:sldId id="310" r:id="rId19"/>
    <p:sldId id="276" r:id="rId20"/>
    <p:sldId id="290" r:id="rId21"/>
    <p:sldId id="291" r:id="rId22"/>
    <p:sldId id="261" r:id="rId23"/>
    <p:sldId id="293" r:id="rId24"/>
    <p:sldId id="296" r:id="rId25"/>
    <p:sldId id="297" r:id="rId26"/>
    <p:sldId id="294" r:id="rId27"/>
    <p:sldId id="295" r:id="rId28"/>
    <p:sldId id="273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263" r:id="rId37"/>
    <p:sldId id="268" r:id="rId38"/>
    <p:sldId id="305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3"/>
    <p:restoredTop sz="94640"/>
  </p:normalViewPr>
  <p:slideViewPr>
    <p:cSldViewPr snapToGrid="0" snapToObjects="1">
      <p:cViewPr varScale="1">
        <p:scale>
          <a:sx n="107" d="100"/>
          <a:sy n="107" d="100"/>
        </p:scale>
        <p:origin x="173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FA118-083D-B359-2341-63876C5E1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97C7A-949A-5AF9-7080-88DD98F58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EB086-61CD-FD5A-F332-6EA50B876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16017-75F7-3F28-9D0D-1F29DE53D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CA2CC-0D97-4731-47DE-33ED99AA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3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D5EA-1539-1472-59DF-D46F34A9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B044-0D94-5142-D610-6808C3352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0847B-6183-7FDE-5952-662E7314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D6FC6-F90A-B440-CF05-E9D81B42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F88BD-BD7F-0DF9-9234-3BBB7649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5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567D-21B7-8EA5-B17D-40B9DE7C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4FDB-75B9-DB8A-92C2-9DE02A0AF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6A44A-F514-5887-B030-752CAF8C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D5FE5-AC44-D382-06CD-3C8F0A5A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62F1B-785C-FA8E-2621-256506B0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0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1800-047D-3911-56FB-DF92B149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3563-A161-4E13-3565-B07C533AC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18C96-A5DA-77EF-77D3-A2EBAB8D9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A02D6-CE10-26F8-1D5C-7D07BB159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233F8-4F60-45A3-3696-1702A90B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B6B9A-0E78-E417-C08D-33B733FE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81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C8D96-B62E-4503-41D1-8315AB7C3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D5AE-E0CB-58F7-ACDD-E831B9E38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F9FCE-D4B2-4020-8A70-0F309EA2E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00B25-98E6-9E79-6E78-31696B784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19444-5B17-D32C-D388-58EE0D39B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146CC1-46DC-72EA-65C8-C605C224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CA28E-8C79-C178-A473-6DC3DE0D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BABCE-FB9F-A05E-0129-B4FB880D2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5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E4783-CD33-0C24-B4AC-1D2C48E3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36CC4-B48C-83CA-8DF9-95D2CCC2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C9A8F-998B-7973-D057-86C015F3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7A740-E8FC-A7EB-B41A-FC3EA68D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2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BDE360-EDAA-27C3-4532-6A5DFB0C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62320-4DFD-5C45-1179-E932D7A2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06E22-97A7-E51D-9CB1-AE84C32E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2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5BD3-A0EF-BC75-94ED-67AB8C62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FCB1B-B1F4-2D7E-0560-2BB11FDC2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51295-F357-1FC8-73B7-A665EE8AB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C1BFD-E9D4-3CBC-B392-A50A1488C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FB722-7C7D-4026-320C-1FA7FB0C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3E7B3-A280-FADD-6B5C-28A0E0BC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9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B072-EF58-902B-31C0-49ECCB537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5E233-5F0E-8129-85C3-E9B344AD3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5D8E5-BC9C-9A77-9535-D5F298D91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A2EAE-4260-5C41-5379-386F6E6A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46080-FE69-BEA8-936C-A191C7A02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DC21D-6E13-A491-AE94-1317EF22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1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78F4-9E57-8060-3124-8801B28A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940EE-BC0F-D750-D8BF-BAAC41707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14937-0CF6-F764-2927-63B2159B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06C66-4605-658E-B640-D373EEB6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254A-4786-E63D-239E-547B20C8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1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B1E736-2E27-4E05-1B8B-8FB3789E5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930A8-348B-91A7-967F-613F616DB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D0F88-C233-D426-7AE0-A855B70A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B0CCC-5B01-12D8-ED2E-18F822C16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498C0-7054-00EA-677B-F1AA5789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5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B6186-C4F7-5549-9EA7-5F38EED2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82F17-1219-7CB9-16C5-E7623BB3E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1C88A-DD4B-D75C-08F2-D5600A7BF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6D454-0080-9C87-B888-B4A7A9DA4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76447-0786-D06D-8C8C-D5BE7956C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6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JavaScript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JavaScript Functions</a:t>
            </a:r>
          </a:p>
          <a:p>
            <a:r>
              <a:rPr lang="en-US" dirty="0"/>
              <a:t>By: Mehnaz Khan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3B6C-A815-2F69-5C98-E1F79416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r>
              <a:rPr lang="en-US" dirty="0"/>
              <a:t>What is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8ACEA-47CC-3F34-3A30-A629A14E3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775" y="2198362"/>
            <a:ext cx="3719225" cy="3917773"/>
          </a:xfrm>
        </p:spPr>
        <p:txBody>
          <a:bodyPr>
            <a:normAutofit/>
          </a:bodyPr>
          <a:lstStyle/>
          <a:p>
            <a:r>
              <a:rPr lang="en-US" sz="1700"/>
              <a:t>A process, an activity, an operation, or a purpose where one thing depends on another.</a:t>
            </a:r>
          </a:p>
          <a:p>
            <a:r>
              <a:rPr lang="en-IN" sz="1700"/>
              <a:t>a function takes something as input (cause, action, or condition) and produces a result (effect, outcome, or response).</a:t>
            </a:r>
            <a:endParaRPr lang="en-US" sz="1700"/>
          </a:p>
          <a:p>
            <a:endParaRPr lang="en-US" sz="1700"/>
          </a:p>
        </p:txBody>
      </p:sp>
      <p:pic>
        <p:nvPicPr>
          <p:cNvPr id="5" name="Picture 4" descr="A close-up of gears&#10;&#10;AI-generated content may be incorrect.">
            <a:extLst>
              <a:ext uri="{FF2B5EF4-FFF2-40B4-BE49-F238E27FC236}">
                <a16:creationId xmlns:a16="http://schemas.microsoft.com/office/drawing/2014/main" id="{CF486B58-6EF0-9F08-4A42-51FF9D649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525" y="2837314"/>
            <a:ext cx="3591379" cy="245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7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Functions in JavaScript?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 function is a reusable block of code that performs a specific task. </a:t>
            </a:r>
            <a:endParaRPr lang="en-US" dirty="0"/>
          </a:p>
          <a:p>
            <a:r>
              <a:rPr lang="en-IN" dirty="0"/>
              <a:t>Functions take inputs (parameters), process them, and return outputs.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Functions?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b="1" dirty="0"/>
              <a:t>Code reusability </a:t>
            </a:r>
            <a:r>
              <a:rPr sz="2600" b="1" dirty="0"/>
              <a:t>: </a:t>
            </a:r>
            <a:r>
              <a:rPr sz="2600" dirty="0"/>
              <a:t>Instead of writing the same code multiple times, use functions.</a:t>
            </a:r>
          </a:p>
          <a:p>
            <a:pPr marL="0" indent="0">
              <a:buNone/>
            </a:pPr>
            <a:r>
              <a:rPr lang="en-US" sz="2600" b="1" dirty="0"/>
              <a:t>	-</a:t>
            </a:r>
            <a:r>
              <a:rPr sz="2600" dirty="0"/>
              <a:t>Write once, use anywhere.</a:t>
            </a:r>
          </a:p>
          <a:p>
            <a:r>
              <a:rPr sz="2600" b="1" dirty="0"/>
              <a:t>Better readability:</a:t>
            </a:r>
            <a:r>
              <a:rPr sz="2600" dirty="0"/>
              <a:t> Functions make code more structured and easier to understand.</a:t>
            </a:r>
          </a:p>
          <a:p>
            <a:r>
              <a:rPr sz="2600" b="1" dirty="0"/>
              <a:t>Easier debugging</a:t>
            </a:r>
            <a:r>
              <a:rPr sz="2600" dirty="0"/>
              <a:t>: Fixing a function is easier than fixing scattered code.</a:t>
            </a:r>
          </a:p>
          <a:p>
            <a:r>
              <a:rPr sz="2600" dirty="0"/>
              <a:t>Imagine a restaurant kitchen:</a:t>
            </a:r>
          </a:p>
          <a:p>
            <a:r>
              <a:rPr sz="2600" dirty="0"/>
              <a:t>Instead of preparing each meal from scratch, chefs use predefined recipes (functions)!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Can you identify functions in daily life?</a:t>
            </a:r>
          </a:p>
          <a:p>
            <a:r>
              <a:rPr dirty="0"/>
              <a:t>Think of one example from your daily life and explain how it works as a function!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r>
              <a:rPr sz="2400" b="1" dirty="0"/>
              <a:t>Vending Machines</a:t>
            </a:r>
            <a:r>
              <a:rPr sz="2400" dirty="0"/>
              <a:t>: Insert money, press a button → You get a drink (Function process)</a:t>
            </a:r>
          </a:p>
          <a:p>
            <a:r>
              <a:rPr sz="2400" b="1" dirty="0"/>
              <a:t>Mobile Apps</a:t>
            </a:r>
            <a:r>
              <a:rPr sz="2400" dirty="0"/>
              <a:t>: 'Login' button calls a function to check username &amp; password.</a:t>
            </a:r>
          </a:p>
          <a:p>
            <a:r>
              <a:rPr sz="2400" b="1" dirty="0"/>
              <a:t>ATMs</a:t>
            </a:r>
            <a:r>
              <a:rPr sz="2400" dirty="0"/>
              <a:t>:</a:t>
            </a:r>
            <a:r>
              <a:rPr dirty="0"/>
              <a:t> </a:t>
            </a:r>
            <a:r>
              <a:rPr sz="2800" dirty="0"/>
              <a:t>Enter PIN → </a:t>
            </a:r>
            <a:r>
              <a:rPr sz="2400" dirty="0"/>
              <a:t>A function checks if it's correct before allowing withdrawals.</a:t>
            </a:r>
          </a:p>
          <a:p>
            <a:r>
              <a:rPr sz="2400" b="1" dirty="0"/>
              <a:t>Smart Assistants</a:t>
            </a:r>
            <a:r>
              <a:rPr sz="2400" dirty="0"/>
              <a:t>🗣️</a:t>
            </a:r>
            <a:r>
              <a:rPr dirty="0"/>
              <a:t>: </a:t>
            </a:r>
            <a:r>
              <a:rPr sz="2400" dirty="0"/>
              <a:t>Saying 'Hey Siri' or 'OK Google' calls a function to process voice commands</a:t>
            </a:r>
            <a:r>
              <a:rPr lang="en-US" sz="2400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Types of JavaScript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b="1" dirty="0"/>
              <a:t>Named Functions</a:t>
            </a:r>
            <a:r>
              <a:rPr lang="en-US" b="1" dirty="0"/>
              <a:t> (functions declarations)</a:t>
            </a:r>
            <a:r>
              <a:rPr b="1" dirty="0"/>
              <a:t>: </a:t>
            </a:r>
            <a:r>
              <a:rPr dirty="0"/>
              <a:t>Functions with a defined name.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                  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                  </a:t>
            </a:r>
            <a:r>
              <a:rPr lang="en-IN" sz="3200" dirty="0"/>
              <a:t>function add(a, b) {</a:t>
            </a:r>
          </a:p>
          <a:p>
            <a:pPr marL="2628900" lvl="6" indent="0">
              <a:buNone/>
            </a:pPr>
            <a:r>
              <a:rPr lang="en-IN" sz="3200" dirty="0"/>
              <a:t>   return a + b;</a:t>
            </a:r>
          </a:p>
          <a:p>
            <a:pPr marL="2628900" lvl="6" indent="0">
              <a:buNone/>
            </a:pPr>
            <a:r>
              <a:rPr lang="en-IN" sz="3200" dirty="0"/>
              <a:t>}</a:t>
            </a:r>
          </a:p>
          <a:p>
            <a:pPr marL="0" indent="0">
              <a:buNone/>
            </a:pPr>
            <a:r>
              <a:rPr lang="en-IN" dirty="0"/>
              <a:t>                              </a:t>
            </a:r>
            <a:r>
              <a:rPr lang="en-IN" sz="2800" dirty="0" err="1"/>
              <a:t>console.log</a:t>
            </a:r>
            <a:r>
              <a:rPr lang="en-IN" sz="2800" dirty="0"/>
              <a:t>(add(5, 3))</a:t>
            </a:r>
            <a:r>
              <a:rPr lang="en-IN" dirty="0"/>
              <a:t>;        </a:t>
            </a:r>
            <a:r>
              <a:rPr lang="en-IN" b="1" dirty="0"/>
              <a:t>// Output: 8</a:t>
            </a:r>
          </a:p>
          <a:p>
            <a:endParaRPr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B04185-C025-DFF0-9A79-A3F242FAA870}"/>
              </a:ext>
            </a:extLst>
          </p:cNvPr>
          <p:cNvCxnSpPr/>
          <p:nvPr/>
        </p:nvCxnSpPr>
        <p:spPr>
          <a:xfrm flipV="1">
            <a:off x="1900990" y="3763295"/>
            <a:ext cx="830179" cy="601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D443051-111C-E137-3A10-89595F8F8A28}"/>
              </a:ext>
            </a:extLst>
          </p:cNvPr>
          <p:cNvSpPr/>
          <p:nvPr/>
        </p:nvSpPr>
        <p:spPr>
          <a:xfrm>
            <a:off x="721895" y="4487778"/>
            <a:ext cx="1383631" cy="39704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keyword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92D3F7-1713-6D05-AFC4-6DA007C93893}"/>
              </a:ext>
            </a:extLst>
          </p:cNvPr>
          <p:cNvCxnSpPr>
            <a:cxnSpLocks/>
          </p:cNvCxnSpPr>
          <p:nvPr/>
        </p:nvCxnSpPr>
        <p:spPr>
          <a:xfrm flipH="1">
            <a:off x="4363453" y="2941720"/>
            <a:ext cx="577516" cy="324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29A3F62-3782-7B95-62BE-85DE005A0B0B}"/>
              </a:ext>
            </a:extLst>
          </p:cNvPr>
          <p:cNvSpPr/>
          <p:nvPr/>
        </p:nvSpPr>
        <p:spPr>
          <a:xfrm>
            <a:off x="4989095" y="2707105"/>
            <a:ext cx="1383631" cy="39704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</a:t>
            </a:r>
            <a:r>
              <a:rPr b="1" dirty="0"/>
              <a:t> of JavaScript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sz="2000" b="1" dirty="0"/>
              <a:t>2. </a:t>
            </a:r>
            <a:r>
              <a:rPr sz="2000" b="1" dirty="0"/>
              <a:t>Anonymous Functions</a:t>
            </a:r>
            <a:r>
              <a:rPr lang="en-US" sz="2000" b="1" dirty="0"/>
              <a:t> (function expressions)</a:t>
            </a:r>
            <a:r>
              <a:rPr sz="2000" dirty="0"/>
              <a:t>: </a:t>
            </a:r>
            <a:r>
              <a:rPr sz="2400" dirty="0"/>
              <a:t>Functions without a name, often assigned to variables.</a:t>
            </a:r>
            <a:r>
              <a:rPr lang="en-US" sz="2400" dirty="0"/>
              <a:t> Created using only </a:t>
            </a:r>
            <a:r>
              <a:rPr lang="en-US" sz="2400" b="1" dirty="0"/>
              <a:t>function</a:t>
            </a:r>
            <a:r>
              <a:rPr lang="en-US" sz="2400" dirty="0"/>
              <a:t> keyword</a:t>
            </a:r>
            <a:r>
              <a:rPr lang="en-US" sz="2000" dirty="0"/>
              <a:t>.</a:t>
            </a:r>
          </a:p>
          <a:p>
            <a:pPr marL="400050" lvl="1" indent="0">
              <a:buNone/>
            </a:pPr>
            <a:endParaRPr sz="2000" dirty="0"/>
          </a:p>
          <a:p>
            <a:pPr marL="400050" lvl="1" indent="0">
              <a:buNone/>
            </a:pPr>
            <a:r>
              <a:rPr sz="2400" dirty="0"/>
              <a:t>let multiply = function(a, b) {</a:t>
            </a:r>
          </a:p>
          <a:p>
            <a:pPr marL="400050" lvl="1" indent="0">
              <a:buNone/>
            </a:pPr>
            <a:r>
              <a:rPr sz="2400" dirty="0"/>
              <a:t>   return a * b;</a:t>
            </a:r>
          </a:p>
          <a:p>
            <a:pPr marL="400050" lvl="1" indent="0">
              <a:buNone/>
            </a:pPr>
            <a:r>
              <a:rPr sz="2400" dirty="0"/>
              <a:t>};</a:t>
            </a:r>
          </a:p>
          <a:p>
            <a:pPr marL="400050" lvl="1" indent="0">
              <a:buNone/>
            </a:pPr>
            <a:r>
              <a:rPr sz="2400" dirty="0" err="1"/>
              <a:t>console.log</a:t>
            </a:r>
            <a:r>
              <a:rPr sz="2400" dirty="0"/>
              <a:t>(multiply(4, 2)); </a:t>
            </a:r>
            <a:r>
              <a:rPr sz="2000" b="1" dirty="0"/>
              <a:t>// Output: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44F4-F7BC-BD3E-B10E-8C996DF3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JavaScript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5B1D8-5F97-AE08-4DB0-C27E53629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3. Arrow Functions: </a:t>
            </a:r>
            <a:r>
              <a:rPr lang="en-IN" dirty="0"/>
              <a:t>Shorter syntax using `=&gt;`.</a:t>
            </a:r>
          </a:p>
          <a:p>
            <a:r>
              <a:rPr lang="en-IN" dirty="0"/>
              <a:t>Removes the need for </a:t>
            </a:r>
            <a:r>
              <a:rPr lang="en-IN" b="1" dirty="0"/>
              <a:t>function</a:t>
            </a:r>
            <a:r>
              <a:rPr lang="en-IN" dirty="0"/>
              <a:t> keyword. </a:t>
            </a:r>
          </a:p>
          <a:p>
            <a:r>
              <a:rPr lang="en-IN" dirty="0"/>
              <a:t>Uses =&gt; (arrow) for defining functions.</a:t>
            </a:r>
          </a:p>
          <a:p>
            <a:pPr marL="0" indent="0">
              <a:buNone/>
            </a:pPr>
            <a:endParaRPr lang="en-IN" dirty="0"/>
          </a:p>
          <a:p>
            <a:pPr marL="400050" lvl="1" indent="0">
              <a:buNone/>
            </a:pPr>
            <a:r>
              <a:rPr lang="en-IN" sz="2000" dirty="0" err="1"/>
              <a:t>const</a:t>
            </a:r>
            <a:r>
              <a:rPr lang="en-IN" sz="2000" dirty="0"/>
              <a:t> divide = (a, b) =&gt; a / b;</a:t>
            </a:r>
          </a:p>
          <a:p>
            <a:pPr marL="400050" lvl="1" indent="0">
              <a:buNone/>
            </a:pPr>
            <a:r>
              <a:rPr lang="en-IN" sz="2000" dirty="0" err="1"/>
              <a:t>console.log</a:t>
            </a:r>
            <a:r>
              <a:rPr lang="en-IN" sz="2000" dirty="0"/>
              <a:t>(divide(10, 2)); </a:t>
            </a:r>
            <a:r>
              <a:rPr lang="en-IN" sz="2000" b="1" dirty="0"/>
              <a:t>// Output: 5</a:t>
            </a:r>
          </a:p>
          <a:p>
            <a:pPr marL="400050" lvl="1" indent="0">
              <a:buNone/>
            </a:pPr>
            <a:endParaRPr lang="en-IN" sz="2000" b="1" dirty="0"/>
          </a:p>
          <a:p>
            <a:pPr marL="400050" lvl="1" indent="0">
              <a:buNone/>
            </a:pPr>
            <a:r>
              <a:rPr lang="en-IN" sz="2000" dirty="0" err="1"/>
              <a:t>const</a:t>
            </a:r>
            <a:r>
              <a:rPr lang="en-IN" sz="2000" dirty="0"/>
              <a:t> square = x =&gt; x * x;</a:t>
            </a:r>
          </a:p>
          <a:p>
            <a:pPr marL="400050" lvl="1" indent="0">
              <a:buNone/>
            </a:pPr>
            <a:r>
              <a:rPr lang="en-IN" sz="2000" dirty="0" err="1"/>
              <a:t>console.log</a:t>
            </a:r>
            <a:r>
              <a:rPr lang="en-IN" sz="2000" dirty="0"/>
              <a:t>(square(2)); </a:t>
            </a:r>
            <a:r>
              <a:rPr lang="en-IN" sz="2000" b="1" dirty="0"/>
              <a:t>// Output: 4</a:t>
            </a:r>
          </a:p>
          <a:p>
            <a:pPr marL="400050" lvl="1" indent="0">
              <a:buNone/>
            </a:pPr>
            <a:endParaRPr lang="en-IN" sz="2000" dirty="0"/>
          </a:p>
          <a:p>
            <a:r>
              <a:rPr lang="en-IN" dirty="0"/>
              <a:t>If the function has only </a:t>
            </a:r>
            <a:r>
              <a:rPr lang="en-IN" b="1" dirty="0"/>
              <a:t>one expression</a:t>
            </a:r>
            <a:r>
              <a:rPr lang="en-IN" dirty="0"/>
              <a:t> and returns a value, you can </a:t>
            </a:r>
            <a:r>
              <a:rPr lang="en-IN" b="1" dirty="0"/>
              <a:t>omit</a:t>
            </a:r>
            <a:r>
              <a:rPr lang="en-IN" dirty="0"/>
              <a:t> the { } and return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005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Parameters &amp;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Parameters:</a:t>
            </a:r>
            <a:r>
              <a:rPr dirty="0"/>
              <a:t> Placeholders for values </a:t>
            </a:r>
            <a:r>
              <a:rPr lang="en-US" dirty="0"/>
              <a:t>that </a:t>
            </a:r>
            <a:r>
              <a:rPr dirty="0"/>
              <a:t>a function accepts.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function add(</a:t>
            </a:r>
            <a:r>
              <a:rPr lang="en-US" b="1" dirty="0" err="1"/>
              <a:t>a,b</a:t>
            </a:r>
            <a:r>
              <a:rPr lang="en-US" b="1" dirty="0"/>
              <a:t>) </a:t>
            </a:r>
            <a:r>
              <a:rPr lang="en-US" dirty="0"/>
              <a:t>– a and b are the parameters</a:t>
            </a:r>
            <a:endParaRPr dirty="0"/>
          </a:p>
          <a:p>
            <a:r>
              <a:rPr b="1" dirty="0"/>
              <a:t>Arguments:</a:t>
            </a:r>
            <a:r>
              <a:rPr dirty="0"/>
              <a:t> Actual values passed to the function when calling it.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console.log</a:t>
            </a:r>
            <a:r>
              <a:rPr lang="en-US" b="1" dirty="0"/>
              <a:t>(add(4,5)); </a:t>
            </a:r>
            <a:r>
              <a:rPr lang="en-US" dirty="0"/>
              <a:t> 4 and 5 are the actual values passed to a and b</a:t>
            </a:r>
            <a:endParaRPr dirty="0"/>
          </a:p>
          <a:p>
            <a:r>
              <a:rPr b="1" dirty="0"/>
              <a:t>Default Parameters: </a:t>
            </a:r>
            <a:r>
              <a:rPr dirty="0"/>
              <a:t>Allow setting default values</a:t>
            </a:r>
            <a:r>
              <a:rPr lang="en-US" dirty="0"/>
              <a:t> </a:t>
            </a:r>
            <a:r>
              <a:rPr lang="en-IN" dirty="0"/>
              <a:t>if no argument is provided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r>
              <a:rPr dirty="0"/>
              <a:t>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Example:</a:t>
            </a:r>
          </a:p>
          <a:p>
            <a:pPr marL="400050" lvl="1" indent="0">
              <a:buNone/>
            </a:pPr>
            <a:r>
              <a:rPr lang="en-IN" dirty="0"/>
              <a:t>function greet(name = 'Guest') {</a:t>
            </a:r>
          </a:p>
          <a:p>
            <a:pPr marL="400050" lvl="1" indent="0">
              <a:buNone/>
            </a:pPr>
            <a:r>
              <a:rPr lang="en-IN" dirty="0"/>
              <a:t>   return 'Hello, ' + name + '!';</a:t>
            </a:r>
          </a:p>
          <a:p>
            <a:pPr marL="400050" lvl="1" indent="0">
              <a:buNone/>
            </a:pPr>
            <a:r>
              <a:rPr lang="en-IN" dirty="0"/>
              <a:t>}</a:t>
            </a:r>
          </a:p>
          <a:p>
            <a:pPr marL="400050" lvl="1" indent="0">
              <a:buNone/>
            </a:pPr>
            <a:r>
              <a:rPr lang="en-IN" dirty="0" err="1"/>
              <a:t>console.log</a:t>
            </a:r>
            <a:r>
              <a:rPr lang="en-IN" dirty="0"/>
              <a:t>(greet());             // Output: Hello, Guest!</a:t>
            </a:r>
          </a:p>
          <a:p>
            <a:pPr marL="400050" lvl="1" indent="0">
              <a:buNone/>
            </a:pPr>
            <a:r>
              <a:rPr lang="en-IN" dirty="0" err="1"/>
              <a:t>console.log</a:t>
            </a:r>
            <a:r>
              <a:rPr lang="en-IN" dirty="0"/>
              <a:t>(greet('John')); // Output: Hello, John!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defines a function named greet.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takes </a:t>
            </a:r>
            <a:r>
              <a:rPr lang="en-IN" b="1" dirty="0"/>
              <a:t>one parameter</a:t>
            </a:r>
            <a:r>
              <a:rPr lang="en-IN" dirty="0"/>
              <a:t> called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= 'Guest'</a:t>
            </a:r>
            <a:r>
              <a:rPr lang="en-IN" dirty="0"/>
              <a:t> part is a </a:t>
            </a:r>
            <a:r>
              <a:rPr lang="en-IN" b="1" dirty="0"/>
              <a:t>default parameter</a:t>
            </a:r>
            <a:r>
              <a:rPr lang="en-IN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If no value is passed when calling the function, name will automatically be 'Guest’.</a:t>
            </a:r>
          </a:p>
          <a:p>
            <a:pPr>
              <a:buNone/>
            </a:pPr>
            <a:r>
              <a:rPr lang="en-IN" b="1" dirty="0"/>
              <a:t>     return 'Hello, ' + name + '!';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returns a greeting message by </a:t>
            </a:r>
            <a:r>
              <a:rPr lang="en-IN" b="1" dirty="0"/>
              <a:t>concatenating</a:t>
            </a:r>
            <a:r>
              <a:rPr lang="en-IN" dirty="0"/>
              <a:t> strings: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"Hello, " + name + "!"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Return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Return Statement: </a:t>
            </a:r>
            <a:r>
              <a:rPr dirty="0"/>
              <a:t>Specifies the output of a function.</a:t>
            </a:r>
            <a:r>
              <a:rPr lang="en-US" dirty="0"/>
              <a:t> </a:t>
            </a:r>
            <a:r>
              <a:rPr lang="en-IN" dirty="0"/>
              <a:t>Functions can accept parameters and return values. </a:t>
            </a:r>
            <a:endParaRPr dirty="0"/>
          </a:p>
          <a:p>
            <a:r>
              <a:rPr lang="en-IN" b="1" dirty="0"/>
              <a:t>Example:</a:t>
            </a:r>
          </a:p>
          <a:p>
            <a:r>
              <a:rPr lang="en-IN" dirty="0"/>
              <a:t>function add(a, b) {</a:t>
            </a:r>
          </a:p>
          <a:p>
            <a:r>
              <a:rPr lang="en-IN" dirty="0"/>
              <a:t>    return a + b;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console.log</a:t>
            </a:r>
            <a:r>
              <a:rPr lang="en-IN" dirty="0"/>
              <a:t>(add(5, 3));  // Output: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 Scope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JavaScript functions provide scope</a:t>
            </a:r>
            <a:endParaRPr dirty="0"/>
          </a:p>
          <a:p>
            <a:r>
              <a:rPr dirty="0"/>
              <a:t>Variables defined inside a function are local to that function</a:t>
            </a:r>
            <a:r>
              <a:rPr lang="en-US" dirty="0"/>
              <a:t>. </a:t>
            </a:r>
            <a:r>
              <a:rPr lang="en-IN" dirty="0"/>
              <a:t>Variables declared with `</a:t>
            </a:r>
            <a:r>
              <a:rPr lang="en-IN" b="1" dirty="0"/>
              <a:t>var</a:t>
            </a:r>
            <a:r>
              <a:rPr lang="en-IN" dirty="0"/>
              <a:t>` inside a function are local to that function</a:t>
            </a:r>
            <a:endParaRPr dirty="0"/>
          </a:p>
          <a:p>
            <a:pPr marL="0" indent="0">
              <a:buNone/>
            </a:pPr>
            <a:r>
              <a:rPr b="1" dirty="0"/>
              <a:t>Example:</a:t>
            </a:r>
          </a:p>
          <a:p>
            <a:pPr marL="400050" lvl="1" indent="0">
              <a:buNone/>
            </a:pPr>
            <a:r>
              <a:rPr dirty="0"/>
              <a:t>function example() {</a:t>
            </a:r>
          </a:p>
          <a:p>
            <a:pPr marL="400050" lvl="1" indent="0">
              <a:buNone/>
            </a:pPr>
            <a:r>
              <a:rPr dirty="0"/>
              <a:t>    var </a:t>
            </a:r>
            <a:r>
              <a:rPr dirty="0" err="1"/>
              <a:t>localVar</a:t>
            </a:r>
            <a:r>
              <a:rPr dirty="0"/>
              <a:t> = 'I am local';</a:t>
            </a:r>
          </a:p>
          <a:p>
            <a:pPr marL="400050" lvl="1" indent="0">
              <a:buNone/>
            </a:pPr>
            <a:r>
              <a:rPr dirty="0"/>
              <a:t>}</a:t>
            </a:r>
          </a:p>
          <a:p>
            <a:pPr marL="400050" lvl="1" indent="0">
              <a:buNone/>
            </a:pPr>
            <a:r>
              <a:rPr dirty="0" err="1"/>
              <a:t>console.log</a:t>
            </a:r>
            <a:r>
              <a:rPr dirty="0"/>
              <a:t>(</a:t>
            </a:r>
            <a:r>
              <a:rPr dirty="0" err="1"/>
              <a:t>localVar</a:t>
            </a:r>
            <a:r>
              <a:rPr dirty="0"/>
              <a:t>); </a:t>
            </a:r>
            <a:endParaRPr lang="en-US" dirty="0"/>
          </a:p>
          <a:p>
            <a:pPr marL="400050" lvl="1" indent="0">
              <a:buNone/>
            </a:pPr>
            <a:r>
              <a:rPr dirty="0"/>
              <a:t>// Error: </a:t>
            </a:r>
            <a:r>
              <a:rPr dirty="0" err="1"/>
              <a:t>localVar</a:t>
            </a:r>
            <a:r>
              <a:rPr dirty="0"/>
              <a:t> is not defined</a:t>
            </a:r>
          </a:p>
          <a:p>
            <a:pPr marL="400050" lvl="1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dirty="0"/>
              <a:t>Example: Scope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6904"/>
            <a:ext cx="8229600" cy="5019259"/>
          </a:xfrm>
        </p:spPr>
        <p:txBody>
          <a:bodyPr>
            <a:normAutofit fontScale="85000" lnSpcReduction="20000"/>
          </a:bodyPr>
          <a:lstStyle/>
          <a:p>
            <a:pPr marL="400050" lvl="1" indent="0">
              <a:lnSpc>
                <a:spcPct val="17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block-level scope with curly braces for var. Only function scope exists. If there's no wrapping function, variables become global</a:t>
            </a:r>
          </a:p>
          <a:p>
            <a:pPr marL="400050" lvl="1" indent="0">
              <a:buNone/>
            </a:pPr>
            <a:endParaRPr lang="en-US" sz="2000" dirty="0"/>
          </a:p>
          <a:p>
            <a:pPr marL="400050" lvl="1" indent="0">
              <a:buNone/>
            </a:pPr>
            <a:r>
              <a:rPr sz="2000" dirty="0"/>
              <a:t>Variables inside </a:t>
            </a:r>
            <a:r>
              <a:rPr lang="en-US" sz="2000" b="1" dirty="0"/>
              <a:t>if</a:t>
            </a:r>
            <a:r>
              <a:rPr lang="en-US" sz="2000" dirty="0"/>
              <a:t> block or </a:t>
            </a:r>
            <a:r>
              <a:rPr sz="2000" b="1" dirty="0"/>
              <a:t>loops</a:t>
            </a:r>
            <a:r>
              <a:rPr sz="2000" dirty="0"/>
              <a:t> are not block-scoped:</a:t>
            </a:r>
          </a:p>
          <a:p>
            <a:pPr marL="400050" lvl="1" indent="0">
              <a:buNone/>
            </a:pPr>
            <a:r>
              <a:rPr sz="2000" dirty="0"/>
              <a:t>if (true) {</a:t>
            </a:r>
          </a:p>
          <a:p>
            <a:pPr marL="400050" lvl="1" indent="0">
              <a:buNone/>
            </a:pPr>
            <a:r>
              <a:rPr sz="2000" dirty="0"/>
              <a:t>    var x = 10;</a:t>
            </a:r>
          </a:p>
          <a:p>
            <a:pPr marL="400050" lvl="1" indent="0">
              <a:buNone/>
            </a:pPr>
            <a:r>
              <a:rPr sz="2000" dirty="0"/>
              <a:t>}</a:t>
            </a:r>
          </a:p>
          <a:p>
            <a:pPr marL="400050" lvl="1" indent="0">
              <a:buNone/>
            </a:pPr>
            <a:r>
              <a:rPr sz="2000" dirty="0" err="1"/>
              <a:t>console.log</a:t>
            </a:r>
            <a:r>
              <a:rPr sz="2000" dirty="0"/>
              <a:t>(x); </a:t>
            </a:r>
            <a:r>
              <a:rPr lang="en-US" sz="2000" dirty="0"/>
              <a:t>                                    </a:t>
            </a:r>
            <a:r>
              <a:rPr sz="2000" dirty="0">
                <a:solidFill>
                  <a:schemeClr val="accent1"/>
                </a:solidFill>
              </a:rPr>
              <a:t>// </a:t>
            </a:r>
            <a:r>
              <a:rPr lang="en-US" sz="2000" dirty="0">
                <a:solidFill>
                  <a:schemeClr val="accent1"/>
                </a:solidFill>
              </a:rPr>
              <a:t> Output </a:t>
            </a:r>
            <a:r>
              <a:rPr sz="2000" dirty="0">
                <a:solidFill>
                  <a:schemeClr val="accent1"/>
                </a:solidFill>
              </a:rPr>
              <a:t>10 (Not limited to the if block!)</a:t>
            </a:r>
          </a:p>
          <a:p>
            <a:pPr marL="400050" lvl="1" indent="0">
              <a:buNone/>
            </a:pPr>
            <a:endParaRPr sz="2000" dirty="0">
              <a:solidFill>
                <a:schemeClr val="accent1"/>
              </a:solidFill>
            </a:endParaRPr>
          </a:p>
          <a:p>
            <a:pPr marL="400050" lvl="1" indent="0">
              <a:buNone/>
            </a:pPr>
            <a:r>
              <a:rPr lang="en-US" sz="2000" dirty="0"/>
              <a:t>But, let and const are block-scoped</a:t>
            </a:r>
            <a:endParaRPr sz="2000" dirty="0"/>
          </a:p>
          <a:p>
            <a:pPr marL="400050" lvl="1" indent="0">
              <a:buNone/>
            </a:pPr>
            <a:r>
              <a:rPr lang="en-IN" sz="2000" dirty="0"/>
              <a:t>if (true) {</a:t>
            </a:r>
          </a:p>
          <a:p>
            <a:pPr marL="400050" lvl="1" indent="0">
              <a:buNone/>
            </a:pPr>
            <a:r>
              <a:rPr lang="en-IN" sz="2000" dirty="0"/>
              <a:t>    let x = 10;</a:t>
            </a:r>
          </a:p>
          <a:p>
            <a:pPr marL="400050" lvl="1" indent="0">
              <a:buNone/>
            </a:pPr>
            <a:r>
              <a:rPr lang="en-IN" sz="2000" dirty="0"/>
              <a:t>    </a:t>
            </a:r>
            <a:r>
              <a:rPr lang="en-IN" sz="2000" dirty="0" err="1"/>
              <a:t>const</a:t>
            </a:r>
            <a:r>
              <a:rPr lang="en-IN" sz="2000" dirty="0"/>
              <a:t> y = 20</a:t>
            </a:r>
          </a:p>
          <a:p>
            <a:pPr marL="400050" lvl="1" indent="0">
              <a:buNone/>
            </a:pPr>
            <a:r>
              <a:rPr lang="en-IN" sz="2000" dirty="0"/>
              <a:t>}</a:t>
            </a:r>
          </a:p>
          <a:p>
            <a:pPr marL="400050" lvl="1" indent="0">
              <a:buNone/>
            </a:pPr>
            <a:r>
              <a:rPr sz="2000" dirty="0" err="1"/>
              <a:t>console.log</a:t>
            </a:r>
            <a:r>
              <a:rPr sz="2000" dirty="0"/>
              <a:t>(</a:t>
            </a:r>
            <a:r>
              <a:rPr lang="en-US" sz="2000" dirty="0"/>
              <a:t>x</a:t>
            </a:r>
            <a:r>
              <a:rPr sz="2000" dirty="0"/>
              <a:t>); </a:t>
            </a:r>
            <a:endParaRPr lang="en-US" sz="2000" dirty="0"/>
          </a:p>
          <a:p>
            <a:pPr marL="400050" lvl="1" indent="0">
              <a:buNone/>
            </a:pPr>
            <a:r>
              <a:rPr sz="2000" dirty="0"/>
              <a:t>// Error: </a:t>
            </a:r>
            <a:r>
              <a:rPr lang="en-US" sz="2000" dirty="0"/>
              <a:t>x</a:t>
            </a:r>
            <a:r>
              <a:rPr sz="2000" dirty="0"/>
              <a:t> is not defined</a:t>
            </a:r>
            <a:endParaRPr lang="en-US" sz="2000" dirty="0"/>
          </a:p>
          <a:p>
            <a:pPr marL="400050" lvl="1" indent="0">
              <a:buNone/>
            </a:pPr>
            <a:r>
              <a:rPr lang="en-IN" sz="2000" dirty="0" err="1"/>
              <a:t>console.log</a:t>
            </a:r>
            <a:r>
              <a:rPr lang="en-IN" sz="2000" dirty="0"/>
              <a:t>(y); </a:t>
            </a:r>
          </a:p>
          <a:p>
            <a:pPr marL="400050" lvl="1" indent="0">
              <a:buNone/>
            </a:pPr>
            <a:r>
              <a:rPr lang="en-IN" sz="2000" dirty="0"/>
              <a:t>// Error: y is not defined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3AE10-5C93-2F44-2002-DC38AB661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</a:t>
            </a:r>
            <a:r>
              <a:rPr lang="en-US" b="1" dirty="0"/>
              <a:t>var</a:t>
            </a:r>
            <a:r>
              <a:rPr lang="en-US" dirty="0"/>
              <a:t> is function-scoped, not block-scoped,</a:t>
            </a:r>
          </a:p>
          <a:p>
            <a:r>
              <a:rPr lang="en-US" dirty="0"/>
              <a:t>and </a:t>
            </a:r>
            <a:r>
              <a:rPr lang="en-US" b="1" dirty="0"/>
              <a:t>let</a:t>
            </a:r>
            <a:r>
              <a:rPr lang="en-US" dirty="0"/>
              <a:t> is block-scoped</a:t>
            </a:r>
          </a:p>
          <a:p>
            <a:endParaRPr lang="en-US" dirty="0"/>
          </a:p>
          <a:p>
            <a:r>
              <a:rPr lang="en-US" dirty="0"/>
              <a:t>Let’s check an example: </a:t>
            </a:r>
          </a:p>
          <a:p>
            <a:r>
              <a:rPr lang="en-US" dirty="0"/>
              <a:t>First, we will create an HTML page with 5 buttons</a:t>
            </a:r>
          </a:p>
        </p:txBody>
      </p:sp>
    </p:spTree>
    <p:extLst>
      <p:ext uri="{BB962C8B-B14F-4D97-AF65-F5344CB8AC3E}">
        <p14:creationId xmlns:p14="http://schemas.microsoft.com/office/powerpoint/2010/main" val="1760792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FB9B9-E54C-3131-DDC4-88A1E3A4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code do?</a:t>
            </a:r>
          </a:p>
        </p:txBody>
      </p:sp>
      <p:pic>
        <p:nvPicPr>
          <p:cNvPr id="5" name="Content Placeholder 4" descr="A computer code with many colored text&#10;&#10;AI-generated content may be incorrect.">
            <a:extLst>
              <a:ext uri="{FF2B5EF4-FFF2-40B4-BE49-F238E27FC236}">
                <a16:creationId xmlns:a16="http://schemas.microsoft.com/office/drawing/2014/main" id="{95559EBF-95DC-A1F4-9388-9CD8CB955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163136"/>
            <a:ext cx="7886700" cy="2300580"/>
          </a:xfrm>
        </p:spPr>
      </p:pic>
    </p:spTree>
    <p:extLst>
      <p:ext uri="{BB962C8B-B14F-4D97-AF65-F5344CB8AC3E}">
        <p14:creationId xmlns:p14="http://schemas.microsoft.com/office/powerpoint/2010/main" val="2448172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E2251-67C0-118A-3DCC-DDEFBA064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var is </a:t>
            </a:r>
            <a:r>
              <a:rPr lang="en-IN" b="1" dirty="0"/>
              <a:t>function-scoped</a:t>
            </a:r>
            <a:r>
              <a:rPr lang="en-IN" dirty="0"/>
              <a:t>, not block-scoped. So all 5 buttons </a:t>
            </a:r>
            <a:r>
              <a:rPr lang="en-IN" b="1" dirty="0"/>
              <a:t>share the same </a:t>
            </a:r>
            <a:r>
              <a:rPr lang="en-IN" b="1" dirty="0" err="1"/>
              <a:t>i</a:t>
            </a:r>
            <a:r>
              <a:rPr lang="en-IN" dirty="0"/>
              <a:t>. </a:t>
            </a:r>
          </a:p>
          <a:p>
            <a:r>
              <a:rPr lang="en-IN" dirty="0"/>
              <a:t>When you click </a:t>
            </a:r>
            <a:r>
              <a:rPr lang="en-IN" b="1" dirty="0"/>
              <a:t>any</a:t>
            </a:r>
            <a:r>
              <a:rPr lang="en-IN" dirty="0"/>
              <a:t> button, it prints 5 (after the loop ends, </a:t>
            </a:r>
            <a:r>
              <a:rPr lang="en-IN" dirty="0" err="1"/>
              <a:t>i</a:t>
            </a:r>
            <a:r>
              <a:rPr lang="en-IN" dirty="0"/>
              <a:t> = 5).</a:t>
            </a:r>
          </a:p>
          <a:p>
            <a:endParaRPr lang="en-IN" dirty="0"/>
          </a:p>
          <a:p>
            <a:r>
              <a:rPr lang="en-IN" dirty="0"/>
              <a:t>If we want each button click to print the corresponding value of </a:t>
            </a:r>
            <a:r>
              <a:rPr lang="en-IN" dirty="0" err="1"/>
              <a:t>i</a:t>
            </a:r>
            <a:r>
              <a:rPr lang="en-IN" dirty="0"/>
              <a:t>, then we should use </a:t>
            </a:r>
            <a:r>
              <a:rPr lang="en-IN" b="1" dirty="0"/>
              <a:t>let</a:t>
            </a:r>
            <a:r>
              <a:rPr lang="en-IN" dirty="0"/>
              <a:t> instead of </a:t>
            </a:r>
            <a:r>
              <a:rPr lang="en-IN" b="1" dirty="0"/>
              <a:t>var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6377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1465A-247E-6539-6A39-C7A2AECD1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7063"/>
            <a:ext cx="7886700" cy="500990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let is </a:t>
            </a:r>
            <a:r>
              <a:rPr lang="en-IN" b="1" dirty="0"/>
              <a:t>block-scoped</a:t>
            </a:r>
            <a:r>
              <a:rPr lang="en-IN" dirty="0"/>
              <a:t> — each loop iteration gets its </a:t>
            </a:r>
            <a:r>
              <a:rPr lang="en-IN" b="1" dirty="0"/>
              <a:t>own copy of </a:t>
            </a:r>
            <a:r>
              <a:rPr lang="en-IN" b="1" dirty="0" err="1"/>
              <a:t>i</a:t>
            </a:r>
            <a:r>
              <a:rPr lang="en-IN" dirty="0"/>
              <a:t>. Now each button remembers the correct value of </a:t>
            </a:r>
            <a:r>
              <a:rPr lang="en-IN" dirty="0" err="1"/>
              <a:t>i</a:t>
            </a:r>
            <a:r>
              <a:rPr lang="en-IN" dirty="0"/>
              <a:t> when it was created. </a:t>
            </a:r>
          </a:p>
          <a:p>
            <a:r>
              <a:rPr lang="en-IN" dirty="0"/>
              <a:t>So clicking </a:t>
            </a:r>
            <a:r>
              <a:rPr lang="en-IN" b="1" dirty="0"/>
              <a:t>Button 0 prints 0</a:t>
            </a:r>
            <a:r>
              <a:rPr lang="en-IN" dirty="0"/>
              <a:t>, Button 1 prints 1, and so on.</a:t>
            </a:r>
            <a:endParaRPr lang="en-US" dirty="0"/>
          </a:p>
        </p:txBody>
      </p:sp>
      <p:pic>
        <p:nvPicPr>
          <p:cNvPr id="5" name="Picture 4" descr="A computer code with many colored text&#10;&#10;AI-generated content may be incorrect.">
            <a:extLst>
              <a:ext uri="{FF2B5EF4-FFF2-40B4-BE49-F238E27FC236}">
                <a16:creationId xmlns:a16="http://schemas.microsoft.com/office/drawing/2014/main" id="{672523FE-2F56-008A-DAE5-886A9F78B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18" y="1491916"/>
            <a:ext cx="7073900" cy="2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79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Scope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Minimizing global variables is a good habit:</a:t>
            </a:r>
          </a:p>
          <a:p>
            <a:pPr marL="400050" lvl="1" indent="0">
              <a:buNone/>
            </a:pPr>
            <a:r>
              <a:rPr lang="en-IN" dirty="0"/>
              <a:t>- </a:t>
            </a:r>
            <a:r>
              <a:rPr dirty="0"/>
              <a:t>Reduces conflicts between variable names</a:t>
            </a:r>
          </a:p>
          <a:p>
            <a:pPr marL="400050" lvl="1" indent="0">
              <a:buNone/>
            </a:pPr>
            <a:r>
              <a:rPr dirty="0"/>
              <a:t>-</a:t>
            </a:r>
            <a:r>
              <a:rPr lang="en-IN" dirty="0"/>
              <a:t> </a:t>
            </a:r>
            <a:r>
              <a:rPr dirty="0"/>
              <a:t>Helps maintain code clarity</a:t>
            </a:r>
          </a:p>
          <a:p>
            <a:pPr marL="400050" lvl="1" indent="0">
              <a:buNone/>
            </a:pPr>
            <a:r>
              <a:rPr dirty="0"/>
              <a:t>- Functions play a crucial role in encapsulating variables</a:t>
            </a:r>
          </a:p>
          <a:p>
            <a:pPr marL="400050" lvl="1" indent="0">
              <a:buNone/>
            </a:pPr>
            <a:r>
              <a:rPr dirty="0"/>
              <a:t>- Always declare variables inside functions when possible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8CC4-4766-A042-D206-8C833A81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output?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CB8E8-4701-C551-C023-FD80791FD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function setup() {</a:t>
            </a:r>
          </a:p>
          <a:p>
            <a:pPr marL="400050" lvl="1" indent="0">
              <a:buNone/>
            </a:pPr>
            <a:r>
              <a:rPr lang="en-US" sz="2400" dirty="0"/>
              <a:t>    var temp = "I am local";</a:t>
            </a:r>
          </a:p>
          <a:p>
            <a:pPr marL="400050" lvl="1" indent="0">
              <a:buNone/>
            </a:pPr>
            <a:r>
              <a:rPr lang="en-US" sz="2400" dirty="0"/>
              <a:t>}</a:t>
            </a:r>
          </a:p>
          <a:p>
            <a:pPr marL="400050" lvl="1" indent="0">
              <a:buNone/>
            </a:pPr>
            <a:r>
              <a:rPr lang="en-US" sz="2400" dirty="0"/>
              <a:t>setup();</a:t>
            </a:r>
          </a:p>
          <a:p>
            <a:pPr marL="400050" lvl="1" indent="0">
              <a:buNone/>
            </a:pPr>
            <a:r>
              <a:rPr lang="en-US" sz="2400" dirty="0" err="1"/>
              <a:t>console.log</a:t>
            </a:r>
            <a:r>
              <a:rPr lang="en-US" sz="2400" dirty="0"/>
              <a:t>(temp); </a:t>
            </a:r>
          </a:p>
        </p:txBody>
      </p:sp>
    </p:spTree>
    <p:extLst>
      <p:ext uri="{BB962C8B-B14F-4D97-AF65-F5344CB8AC3E}">
        <p14:creationId xmlns:p14="http://schemas.microsoft.com/office/powerpoint/2010/main" val="1287563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772BB-10A2-6D94-31E0-3AF619207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function setup() {</a:t>
            </a:r>
          </a:p>
          <a:p>
            <a:pPr marL="400050" lvl="1" indent="0">
              <a:buNone/>
            </a:pPr>
            <a:r>
              <a:rPr lang="en-US" sz="2400" dirty="0"/>
              <a:t>    temp = "I am global now!";  </a:t>
            </a:r>
            <a:r>
              <a:rPr lang="en-US" sz="1800" dirty="0">
                <a:solidFill>
                  <a:schemeClr val="accent1"/>
                </a:solidFill>
              </a:rPr>
              <a:t>// No 'var', 'let', or 'const' -becomes global!</a:t>
            </a:r>
            <a:endParaRPr lang="en-US" dirty="0">
              <a:solidFill>
                <a:schemeClr val="accent1"/>
              </a:solidFill>
            </a:endParaRPr>
          </a:p>
          <a:p>
            <a:pPr marL="400050" lvl="1" indent="0">
              <a:buNone/>
            </a:pPr>
            <a:r>
              <a:rPr lang="en-US" sz="2400" dirty="0"/>
              <a:t>}</a:t>
            </a:r>
          </a:p>
          <a:p>
            <a:pPr marL="400050" lvl="1" indent="0">
              <a:buNone/>
            </a:pPr>
            <a:r>
              <a:rPr lang="en-US" sz="2400" dirty="0"/>
              <a:t>setup();</a:t>
            </a:r>
          </a:p>
          <a:p>
            <a:pPr marL="400050" lvl="1" indent="0">
              <a:buNone/>
            </a:pPr>
            <a:r>
              <a:rPr lang="en-US" sz="2400" dirty="0" err="1"/>
              <a:t>console.log</a:t>
            </a:r>
            <a:r>
              <a:rPr lang="en-US" sz="2400" dirty="0"/>
              <a:t>(temp</a:t>
            </a:r>
            <a:r>
              <a:rPr lang="en-US" sz="2400" dirty="0">
                <a:solidFill>
                  <a:schemeClr val="accent1"/>
                </a:solidFill>
              </a:rPr>
              <a:t>);       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 // "I am global now!" (BAD!)</a:t>
            </a:r>
          </a:p>
          <a:p>
            <a:pPr marL="400050" lvl="1" indent="0">
              <a:buNone/>
            </a:pPr>
            <a:r>
              <a:rPr lang="en-IN" sz="2000" dirty="0"/>
              <a:t>This can </a:t>
            </a:r>
            <a:r>
              <a:rPr lang="en-IN" sz="2000" b="1" dirty="0"/>
              <a:t>pollute the global scope</a:t>
            </a:r>
            <a:r>
              <a:rPr lang="en-IN" sz="2000" dirty="0"/>
              <a:t> and lead to conflicts.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2558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Functions (IIFE)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Immediately Invoked Function Expressions</a:t>
            </a:r>
            <a:endParaRPr lang="en-US" dirty="0"/>
          </a:p>
          <a:p>
            <a:r>
              <a:rPr dirty="0"/>
              <a:t>Functions that execute immediately upon definition</a:t>
            </a:r>
          </a:p>
          <a:p>
            <a:r>
              <a:rPr dirty="0"/>
              <a:t>Helps create a local scope</a:t>
            </a:r>
            <a:endParaRPr lang="en-US" dirty="0"/>
          </a:p>
          <a:p>
            <a:r>
              <a:rPr lang="en-US" dirty="0"/>
              <a:t>Also called self-invoking/self-executing functions</a:t>
            </a:r>
            <a:endParaRPr dirty="0"/>
          </a:p>
          <a:p>
            <a:pPr marL="0" indent="0">
              <a:buNone/>
            </a:pPr>
            <a:endParaRPr dirty="0"/>
          </a:p>
          <a:p>
            <a:r>
              <a:rPr dirty="0"/>
              <a:t>Example:</a:t>
            </a:r>
          </a:p>
          <a:p>
            <a:pPr marL="400050" lvl="1" indent="0">
              <a:buNone/>
            </a:pPr>
            <a:r>
              <a:rPr dirty="0"/>
              <a:t>(function() {</a:t>
            </a:r>
          </a:p>
          <a:p>
            <a:pPr marL="400050" lvl="1" indent="0">
              <a:buNone/>
            </a:pPr>
            <a:r>
              <a:rPr dirty="0"/>
              <a:t>    var temp = 'I am temporary';</a:t>
            </a:r>
          </a:p>
          <a:p>
            <a:pPr marL="400050" lvl="1" indent="0">
              <a:buNone/>
            </a:pPr>
            <a:r>
              <a:rPr dirty="0"/>
              <a:t>    </a:t>
            </a:r>
            <a:r>
              <a:rPr dirty="0" err="1"/>
              <a:t>console.log</a:t>
            </a:r>
            <a:r>
              <a:rPr dirty="0"/>
              <a:t>(temp);</a:t>
            </a:r>
          </a:p>
          <a:p>
            <a:pPr marL="400050" lvl="1" indent="0">
              <a:buNone/>
            </a:pPr>
            <a:r>
              <a:rPr dirty="0"/>
              <a:t>})();</a:t>
            </a:r>
          </a:p>
          <a:p>
            <a:pPr marL="400050" lvl="1" indent="0">
              <a:buNone/>
            </a:pPr>
            <a:r>
              <a:rPr dirty="0" err="1"/>
              <a:t>console.log</a:t>
            </a:r>
            <a:r>
              <a:rPr dirty="0"/>
              <a:t>(temp); // Error: temp is not defined</a:t>
            </a:r>
          </a:p>
          <a:p>
            <a:pPr marL="40005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87F70-2612-15AC-8A83-16C6F710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Immediate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F1A13-F7B9-DBB1-35BD-36044285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1" dirty="0"/>
              <a:t>Benefits and usage: </a:t>
            </a:r>
          </a:p>
          <a:p>
            <a:pPr algn="just"/>
            <a:r>
              <a:rPr lang="en-IN" sz="2400" dirty="0">
                <a:solidFill>
                  <a:srgbClr val="000000"/>
                </a:solidFill>
                <a:latin typeface="Helvetica" pitchFamily="2" charset="0"/>
              </a:rPr>
              <a:t>These functions </a:t>
            </a:r>
            <a:r>
              <a:rPr lang="en-IN" sz="2400" dirty="0">
                <a:solidFill>
                  <a:srgbClr val="000000"/>
                </a:solidFill>
                <a:effectLst/>
                <a:latin typeface="Helvetica" pitchFamily="2" charset="0"/>
              </a:rPr>
              <a:t>help you wrap an amount of work you want to do without leaving any global variables behind. All the variables you define will be </a:t>
            </a:r>
            <a:r>
              <a:rPr lang="en-IN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local</a:t>
            </a:r>
            <a:r>
              <a:rPr lang="en-IN" sz="2400" dirty="0">
                <a:solidFill>
                  <a:srgbClr val="000000"/>
                </a:solidFill>
                <a:effectLst/>
                <a:latin typeface="Helvetica" pitchFamily="2" charset="0"/>
              </a:rPr>
              <a:t> to the self-invoking functions and you don’t have to worry about polluting the global space with temporary variables.</a:t>
            </a:r>
          </a:p>
          <a:p>
            <a:pPr algn="just"/>
            <a:r>
              <a:rPr lang="en-IN" sz="2400" dirty="0">
                <a:solidFill>
                  <a:schemeClr val="accent1"/>
                </a:solidFill>
                <a:latin typeface="Helvetica" pitchFamily="2" charset="0"/>
              </a:rPr>
              <a:t>The question that arises here: aren’t the variables local in all functions? So why do Immediate functions get special credit for keeping variables local?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10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FAAB-AE34-1EDD-8000-D57A7AD99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B5E9-42B6-D3DC-5F64-D570D0B1E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 regular function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AFF9E-CB59-22DD-3B7D-C003F3D2A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function setup() {</a:t>
            </a:r>
          </a:p>
          <a:p>
            <a:pPr marL="400050" lvl="1" indent="0">
              <a:buNone/>
            </a:pPr>
            <a:r>
              <a:rPr lang="en-US" sz="2000" dirty="0"/>
              <a:t>    var temp = "I am local";</a:t>
            </a:r>
          </a:p>
          <a:p>
            <a:pPr marL="400050" lvl="1" indent="0">
              <a:buNone/>
            </a:pPr>
            <a:r>
              <a:rPr lang="en-US" sz="2000" dirty="0"/>
              <a:t>}</a:t>
            </a:r>
          </a:p>
          <a:p>
            <a:pPr marL="400050" lvl="1" indent="0">
              <a:buNone/>
            </a:pPr>
            <a:r>
              <a:rPr lang="en-US" sz="2000" dirty="0"/>
              <a:t>setup();</a:t>
            </a:r>
          </a:p>
          <a:p>
            <a:pPr marL="400050" lvl="1" indent="0">
              <a:buNone/>
            </a:pPr>
            <a:r>
              <a:rPr lang="en-US" sz="2000" dirty="0" err="1"/>
              <a:t>console.log</a:t>
            </a:r>
            <a:r>
              <a:rPr lang="en-US" sz="2000" dirty="0"/>
              <a:t>(temp); </a:t>
            </a:r>
          </a:p>
          <a:p>
            <a:pPr marL="400050" lvl="1" indent="0">
              <a:buNone/>
            </a:pPr>
            <a:r>
              <a:rPr lang="en-US" sz="2000" dirty="0"/>
              <a:t>// Error: temp is not defined (good!)</a:t>
            </a:r>
          </a:p>
        </p:txBody>
      </p:sp>
    </p:spTree>
    <p:extLst>
      <p:ext uri="{BB962C8B-B14F-4D97-AF65-F5344CB8AC3E}">
        <p14:creationId xmlns:p14="http://schemas.microsoft.com/office/powerpoint/2010/main" val="1604732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60AD-DF61-0C81-8386-C85D4936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5BF8-D3D1-5817-E2FE-6E8EA38A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5ED7F-2FE0-8BC8-B78A-A9E784E40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function setup() {</a:t>
            </a:r>
          </a:p>
          <a:p>
            <a:pPr marL="400050" lvl="1" indent="0">
              <a:buNone/>
            </a:pPr>
            <a:r>
              <a:rPr lang="en-US" sz="2800" dirty="0"/>
              <a:t>    temp = "I am global now!";  </a:t>
            </a:r>
            <a:r>
              <a:rPr lang="en-US" sz="2000" dirty="0">
                <a:solidFill>
                  <a:schemeClr val="accent1"/>
                </a:solidFill>
              </a:rPr>
              <a:t>// No 'var', 'let', or 'const' -becomes global!</a:t>
            </a:r>
          </a:p>
          <a:p>
            <a:pPr marL="400050" lvl="1" indent="0">
              <a:buNone/>
            </a:pPr>
            <a:r>
              <a:rPr lang="en-US" sz="2800" dirty="0"/>
              <a:t>}</a:t>
            </a:r>
          </a:p>
          <a:p>
            <a:pPr marL="400050" lvl="1" indent="0">
              <a:buNone/>
            </a:pPr>
            <a:r>
              <a:rPr lang="en-US" sz="2800" dirty="0"/>
              <a:t>setup();</a:t>
            </a:r>
          </a:p>
          <a:p>
            <a:pPr marL="400050" lvl="1" indent="0">
              <a:buNone/>
            </a:pPr>
            <a:r>
              <a:rPr lang="en-US" sz="2800" dirty="0" err="1"/>
              <a:t>console.log</a:t>
            </a:r>
            <a:r>
              <a:rPr lang="en-US" sz="2800" dirty="0"/>
              <a:t>(temp</a:t>
            </a:r>
            <a:r>
              <a:rPr lang="en-US" sz="2800" dirty="0">
                <a:solidFill>
                  <a:schemeClr val="accent1"/>
                </a:solidFill>
              </a:rPr>
              <a:t>);        // "I am global now!" (BAD practice)</a:t>
            </a:r>
          </a:p>
          <a:p>
            <a:pPr marL="400050" lvl="1" indent="0">
              <a:buNone/>
            </a:pPr>
            <a:r>
              <a:rPr lang="en-IN" sz="2400" dirty="0"/>
              <a:t>This can </a:t>
            </a:r>
            <a:r>
              <a:rPr lang="en-IN" sz="2400" b="1" dirty="0"/>
              <a:t>pollute the global scope</a:t>
            </a:r>
            <a:r>
              <a:rPr lang="en-IN" sz="2400" dirty="0"/>
              <a:t> and lead to conflicts.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3853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B734-E379-12EE-062F-F222D50B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immediate function- complete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633F-F2E4-6EAA-3FDD-D46DB590A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(function() {</a:t>
            </a:r>
          </a:p>
          <a:p>
            <a:pPr marL="400050" lvl="1" indent="0">
              <a:buNone/>
            </a:pPr>
            <a:r>
              <a:rPr lang="en-US" sz="2000" dirty="0"/>
              <a:t>    temp = "I am safe inside!";</a:t>
            </a:r>
          </a:p>
          <a:p>
            <a:pPr marL="400050" lvl="1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console.log</a:t>
            </a:r>
            <a:r>
              <a:rPr lang="en-US" sz="2000" dirty="0"/>
              <a:t>(temp); </a:t>
            </a:r>
            <a:r>
              <a:rPr lang="en-US" sz="2000" dirty="0">
                <a:solidFill>
                  <a:schemeClr val="accent1"/>
                </a:solidFill>
              </a:rPr>
              <a:t>// Works inside</a:t>
            </a:r>
          </a:p>
          <a:p>
            <a:pPr marL="400050" lvl="1" indent="0">
              <a:buNone/>
            </a:pPr>
            <a:r>
              <a:rPr lang="en-US" sz="2000" dirty="0"/>
              <a:t>})();</a:t>
            </a:r>
          </a:p>
          <a:p>
            <a:pPr marL="400050" lvl="1" indent="0">
              <a:buNone/>
            </a:pPr>
            <a:r>
              <a:rPr lang="en-US" sz="2000" dirty="0" err="1"/>
              <a:t>console.log</a:t>
            </a:r>
            <a:r>
              <a:rPr lang="en-US" sz="2000" dirty="0"/>
              <a:t>(temp); </a:t>
            </a:r>
            <a:r>
              <a:rPr lang="en-US" sz="2000" dirty="0">
                <a:solidFill>
                  <a:schemeClr val="accent1"/>
                </a:solidFill>
              </a:rPr>
              <a:t>// Error: temp is not defined (GOOD!)</a:t>
            </a:r>
          </a:p>
          <a:p>
            <a:pPr>
              <a:buNone/>
            </a:pPr>
            <a:endParaRPr lang="en-IN" sz="1400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sz="2000" dirty="0"/>
              <a:t>Here, temp </a:t>
            </a:r>
            <a:r>
              <a:rPr lang="en-IN" sz="2000" b="1" dirty="0"/>
              <a:t>never leaks</a:t>
            </a:r>
            <a:r>
              <a:rPr lang="en-IN" sz="2000" dirty="0"/>
              <a:t> because: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The function </a:t>
            </a:r>
            <a:r>
              <a:rPr lang="en-IN" sz="2000" b="1" dirty="0"/>
              <a:t>executes immediately</a:t>
            </a:r>
            <a:r>
              <a:rPr lang="en-IN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The variable </a:t>
            </a:r>
            <a:r>
              <a:rPr lang="en-IN" sz="2000" b="1" dirty="0"/>
              <a:t>exists only inside the immediate function.</a:t>
            </a:r>
            <a:endParaRPr lang="en-IN" sz="2000" dirty="0"/>
          </a:p>
          <a:p>
            <a:pPr>
              <a:buFont typeface="+mj-lt"/>
              <a:buAutoNum type="arabicPeriod"/>
            </a:pPr>
            <a:r>
              <a:rPr lang="en-IN" sz="2000" dirty="0"/>
              <a:t>Nothing from inside the function is accessible globally.</a:t>
            </a:r>
          </a:p>
        </p:txBody>
      </p:sp>
    </p:spTree>
    <p:extLst>
      <p:ext uri="{BB962C8B-B14F-4D97-AF65-F5344CB8AC3E}">
        <p14:creationId xmlns:p14="http://schemas.microsoft.com/office/powerpoint/2010/main" val="3030425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F5E8-22C9-03AA-6002-F321754AB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is This Useful?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D6FE6-C847-0C78-EE2C-7F4F330AD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Avoiding accidental global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Encapsulating code to prevent conflicts (e.g., in libraries or modules)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Creating temporary variables that should disappear after execution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Avoiding name collisions in larger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807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Closures </a:t>
            </a:r>
            <a:r>
              <a:rPr lang="en-US" dirty="0"/>
              <a:t>In </a:t>
            </a:r>
            <a:r>
              <a:rPr lang="en-US" dirty="0" err="1"/>
              <a:t>Javascript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Closures:</a:t>
            </a:r>
            <a:r>
              <a:rPr dirty="0"/>
              <a:t> Functions that retain access to variables from their parent scope.</a:t>
            </a:r>
            <a:endParaRPr lang="en-US" dirty="0"/>
          </a:p>
          <a:p>
            <a:r>
              <a:rPr lang="en-IN" dirty="0"/>
              <a:t>A </a:t>
            </a:r>
            <a:r>
              <a:rPr lang="en-IN" b="1" dirty="0"/>
              <a:t>closure</a:t>
            </a:r>
            <a:r>
              <a:rPr lang="en-IN" dirty="0"/>
              <a:t> is when a function </a:t>
            </a:r>
            <a:r>
              <a:rPr lang="en-IN" b="1" dirty="0"/>
              <a:t>"remembers" variables</a:t>
            </a:r>
            <a:r>
              <a:rPr lang="en-IN" dirty="0"/>
              <a:t> from its outer scope </a:t>
            </a:r>
            <a:r>
              <a:rPr lang="en-IN" b="1" dirty="0"/>
              <a:t>even after the outer function has finished executing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1D03-4391-6F90-1A41-15BC9F44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7888"/>
          </a:xfrm>
        </p:spPr>
        <p:txBody>
          <a:bodyPr>
            <a:normAutofit/>
          </a:bodyPr>
          <a:lstStyle/>
          <a:p>
            <a:r>
              <a:rPr lang="en-IN" dirty="0"/>
              <a:t>Simple Example of a Closure: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185D-C057-FC4C-ED14-D010D634C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46748"/>
            <a:ext cx="8229600" cy="5079416"/>
          </a:xfrm>
        </p:spPr>
        <p:txBody>
          <a:bodyPr>
            <a:normAutofit/>
          </a:bodyPr>
          <a:lstStyle/>
          <a:p>
            <a:pPr marL="800100" lvl="2" indent="0">
              <a:buNone/>
            </a:pPr>
            <a:r>
              <a:rPr lang="en-US" sz="1800" dirty="0"/>
              <a:t>function outer() {</a:t>
            </a:r>
          </a:p>
          <a:p>
            <a:pPr marL="800100" lvl="2" indent="0">
              <a:buNone/>
            </a:pPr>
            <a:r>
              <a:rPr lang="en-US" sz="1800" dirty="0"/>
              <a:t>    let count = 0;</a:t>
            </a:r>
          </a:p>
          <a:p>
            <a:pPr marL="800100" lvl="2" indent="0">
              <a:buNone/>
            </a:pPr>
            <a:endParaRPr lang="en-US" sz="1800" dirty="0"/>
          </a:p>
          <a:p>
            <a:pPr marL="800100" lvl="2" indent="0">
              <a:buNone/>
            </a:pPr>
            <a:r>
              <a:rPr lang="en-US" sz="1800" dirty="0"/>
              <a:t>      function inner() {</a:t>
            </a:r>
          </a:p>
          <a:p>
            <a:pPr marL="800100" lvl="2" indent="0">
              <a:buNone/>
            </a:pPr>
            <a:r>
              <a:rPr lang="en-US" sz="1800" dirty="0"/>
              <a:t>          count++;</a:t>
            </a:r>
          </a:p>
          <a:p>
            <a:pPr marL="800100" lvl="2" indent="0">
              <a:buNone/>
            </a:pPr>
            <a:r>
              <a:rPr lang="en-US" sz="1800" dirty="0"/>
              <a:t>          </a:t>
            </a:r>
            <a:r>
              <a:rPr lang="en-US" sz="1800" dirty="0" err="1"/>
              <a:t>console.log</a:t>
            </a:r>
            <a:r>
              <a:rPr lang="en-US" sz="1800" dirty="0"/>
              <a:t>("Count:", count);</a:t>
            </a:r>
          </a:p>
          <a:p>
            <a:pPr marL="800100" lvl="2" indent="0">
              <a:buNone/>
            </a:pPr>
            <a:r>
              <a:rPr lang="en-US" sz="1800" dirty="0"/>
              <a:t>      }</a:t>
            </a:r>
          </a:p>
          <a:p>
            <a:pPr marL="800100" lvl="2" indent="0">
              <a:buNone/>
            </a:pPr>
            <a:endParaRPr lang="en-US" sz="1800" dirty="0"/>
          </a:p>
          <a:p>
            <a:pPr marL="800100" lvl="2" indent="0">
              <a:buNone/>
            </a:pPr>
            <a:r>
              <a:rPr lang="en-US" sz="1800" dirty="0"/>
              <a:t>    return inner;</a:t>
            </a:r>
          </a:p>
          <a:p>
            <a:pPr marL="800100" lvl="2" indent="0">
              <a:buNone/>
            </a:pPr>
            <a:r>
              <a:rPr lang="en-US" sz="1800" dirty="0"/>
              <a:t>}</a:t>
            </a:r>
          </a:p>
          <a:p>
            <a:pPr marL="800100" lvl="2" indent="0">
              <a:buNone/>
            </a:pPr>
            <a:endParaRPr lang="en-US" sz="1800" dirty="0"/>
          </a:p>
          <a:p>
            <a:pPr marL="800100" lvl="2" indent="0">
              <a:buNone/>
            </a:pPr>
            <a:r>
              <a:rPr lang="en-US" sz="1800" dirty="0"/>
              <a:t>const counter = outer();  </a:t>
            </a:r>
            <a:r>
              <a:rPr lang="en-US" sz="1800" dirty="0">
                <a:solidFill>
                  <a:schemeClr val="accent1"/>
                </a:solidFill>
              </a:rPr>
              <a:t>// outer() runs and returns inner()</a:t>
            </a:r>
          </a:p>
          <a:p>
            <a:pPr marL="800100" lvl="2" indent="0">
              <a:buNone/>
            </a:pPr>
            <a:r>
              <a:rPr lang="en-US" sz="1800" dirty="0"/>
              <a:t>counter();                          </a:t>
            </a:r>
            <a:r>
              <a:rPr lang="en-US" sz="1800" dirty="0">
                <a:solidFill>
                  <a:schemeClr val="accent1"/>
                </a:solidFill>
              </a:rPr>
              <a:t>// Count: 1</a:t>
            </a:r>
          </a:p>
          <a:p>
            <a:pPr marL="800100" lvl="2" indent="0">
              <a:buNone/>
            </a:pPr>
            <a:r>
              <a:rPr lang="en-US" sz="1800" dirty="0"/>
              <a:t>counter();                        </a:t>
            </a:r>
            <a:r>
              <a:rPr lang="en-US" sz="1800" dirty="0">
                <a:solidFill>
                  <a:schemeClr val="accent1"/>
                </a:solidFill>
              </a:rPr>
              <a:t>// Count: 2</a:t>
            </a:r>
          </a:p>
          <a:p>
            <a:pPr marL="800100" lvl="2" indent="0">
              <a:buNone/>
            </a:pPr>
            <a:r>
              <a:rPr lang="en-US" sz="1800" dirty="0"/>
              <a:t>counter();                      </a:t>
            </a:r>
            <a:r>
              <a:rPr lang="en-US" sz="1800" dirty="0">
                <a:solidFill>
                  <a:schemeClr val="accent1"/>
                </a:solidFill>
              </a:rPr>
              <a:t>// Count: 3</a:t>
            </a:r>
          </a:p>
        </p:txBody>
      </p:sp>
    </p:spTree>
    <p:extLst>
      <p:ext uri="{BB962C8B-B14F-4D97-AF65-F5344CB8AC3E}">
        <p14:creationId xmlns:p14="http://schemas.microsoft.com/office/powerpoint/2010/main" val="4131474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006D7-4651-E820-7800-E7F9BC4E5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29390"/>
            <a:ext cx="8229600" cy="5596774"/>
          </a:xfrm>
        </p:spPr>
        <p:txBody>
          <a:bodyPr/>
          <a:lstStyle/>
          <a:p>
            <a:pPr marL="800100" lvl="2" indent="0">
              <a:buNone/>
            </a:pPr>
            <a:r>
              <a:rPr lang="en-IN" sz="3200" dirty="0"/>
              <a:t>outer() defines a local variable count and a function inner(). </a:t>
            </a:r>
          </a:p>
          <a:p>
            <a:pPr marL="800100" lvl="2" indent="0">
              <a:buNone/>
            </a:pPr>
            <a:r>
              <a:rPr lang="en-IN" sz="3200" dirty="0"/>
              <a:t>outer() returns inner() — but count is </a:t>
            </a:r>
            <a:r>
              <a:rPr lang="en-IN" sz="3200" b="1" dirty="0"/>
              <a:t>not lost</a:t>
            </a:r>
            <a:r>
              <a:rPr lang="en-IN" sz="3200" dirty="0"/>
              <a:t>. </a:t>
            </a:r>
          </a:p>
          <a:p>
            <a:pPr marL="800100" lvl="2" indent="0">
              <a:buNone/>
            </a:pPr>
            <a:r>
              <a:rPr lang="en-IN" sz="3200" dirty="0"/>
              <a:t>Even after outer() is done, counter() still has access to count because of </a:t>
            </a:r>
            <a:r>
              <a:rPr lang="en-IN" sz="3200" b="1" dirty="0"/>
              <a:t>closure</a:t>
            </a:r>
            <a:r>
              <a:rPr lang="en-IN" sz="3200" dirty="0"/>
              <a:t>.</a:t>
            </a:r>
          </a:p>
          <a:p>
            <a:pPr marL="800100" lvl="2" indent="0">
              <a:buNone/>
            </a:pPr>
            <a:r>
              <a:rPr lang="en-IN" sz="2400" b="1" dirty="0"/>
              <a:t>The inner function is the closure</a:t>
            </a:r>
            <a:r>
              <a:rPr lang="en-IN" sz="2400" dirty="0"/>
              <a:t> — because it "closes over" the count variable from its outer function (outer).</a:t>
            </a:r>
            <a:endParaRPr lang="en-US" sz="3200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318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EE760-A1E4-77E1-8007-238A8907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Hoisting in </a:t>
            </a:r>
            <a:r>
              <a:rPr lang="en-US" dirty="0" err="1"/>
              <a:t>Javascript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AB51-5926-B4E2-3AC3-20D268DD3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Hoisting</a:t>
            </a:r>
            <a:r>
              <a:rPr lang="en-IN" dirty="0"/>
              <a:t> is JavaScript's </a:t>
            </a:r>
            <a:r>
              <a:rPr lang="en-IN" dirty="0" err="1"/>
              <a:t>behavior</a:t>
            </a:r>
            <a:r>
              <a:rPr lang="en-IN" dirty="0"/>
              <a:t> of </a:t>
            </a:r>
            <a:r>
              <a:rPr lang="en-IN" b="1" dirty="0"/>
              <a:t>moving declarations to the top</a:t>
            </a:r>
            <a:r>
              <a:rPr lang="en-IN" dirty="0"/>
              <a:t> of the current scope </a:t>
            </a:r>
            <a:r>
              <a:rPr lang="en-IN" b="1" dirty="0"/>
              <a:t>during the compilation phase</a:t>
            </a:r>
            <a:r>
              <a:rPr lang="en-IN" dirty="0"/>
              <a:t>, before code runs.</a:t>
            </a:r>
          </a:p>
          <a:p>
            <a:r>
              <a:rPr lang="en-IN" dirty="0"/>
              <a:t>Function Declarations are Hoisted- </a:t>
            </a:r>
            <a:r>
              <a:rPr lang="en-IN" dirty="0" err="1"/>
              <a:t>i.e</a:t>
            </a:r>
            <a:r>
              <a:rPr lang="en-IN" dirty="0"/>
              <a:t>, we can call a function before its definition</a:t>
            </a:r>
          </a:p>
          <a:p>
            <a:r>
              <a:rPr lang="en-IN" dirty="0"/>
              <a:t>Function Expressions are </a:t>
            </a:r>
            <a:r>
              <a:rPr lang="en-IN" i="1" dirty="0"/>
              <a:t>not</a:t>
            </a:r>
            <a:r>
              <a:rPr lang="en-IN" dirty="0"/>
              <a:t> hoisted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08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A24F-AF16-324B-D03F-6BE04E9E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Example: </a:t>
            </a:r>
            <a:r>
              <a:rPr lang="en-IN" sz="3200" b="1" dirty="0"/>
              <a:t>Function Declarations are Hoisted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98633-87F6-75BF-5943-2337E5487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US" dirty="0" err="1"/>
              <a:t>sayHi</a:t>
            </a:r>
            <a:r>
              <a:rPr lang="en-US" dirty="0"/>
              <a:t>();                   //  This Works! Output: Hello</a:t>
            </a:r>
          </a:p>
          <a:p>
            <a:pPr marL="400050" lvl="1" indent="0">
              <a:buNone/>
            </a:pPr>
            <a:r>
              <a:rPr lang="en-US" dirty="0"/>
              <a:t>function </a:t>
            </a:r>
            <a:r>
              <a:rPr lang="en-US" dirty="0" err="1"/>
              <a:t>sayHi</a:t>
            </a:r>
            <a:r>
              <a:rPr lang="en-US" dirty="0"/>
              <a:t>() {</a:t>
            </a:r>
          </a:p>
          <a:p>
            <a:pPr marL="400050" lvl="1" indent="0">
              <a:buNone/>
            </a:pPr>
            <a:r>
              <a:rPr lang="en-US" dirty="0"/>
              <a:t>    </a:t>
            </a:r>
            <a:r>
              <a:rPr lang="en-US" dirty="0" err="1"/>
              <a:t>console.log</a:t>
            </a:r>
            <a:r>
              <a:rPr lang="en-US" dirty="0"/>
              <a:t>("Hello");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9603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2C01-B6DD-147A-EF38-10D74582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b="1" dirty="0"/>
              <a:t>Function Expressions are </a:t>
            </a:r>
            <a:r>
              <a:rPr lang="en-IN" b="1" i="1" dirty="0"/>
              <a:t>not</a:t>
            </a:r>
            <a:r>
              <a:rPr lang="en-IN" b="1" dirty="0"/>
              <a:t> hoisted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5B62-4417-AA0D-96C8-D3BE1A090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sayHi</a:t>
            </a:r>
            <a:r>
              <a:rPr lang="en-US" dirty="0"/>
              <a:t>();         // Error: </a:t>
            </a:r>
            <a:r>
              <a:rPr lang="en-US" dirty="0" err="1"/>
              <a:t>sayHi</a:t>
            </a:r>
            <a:r>
              <a:rPr lang="en-US" dirty="0"/>
              <a:t> is not a function</a:t>
            </a:r>
          </a:p>
          <a:p>
            <a:pPr marL="400050" lvl="1" indent="0">
              <a:buNone/>
            </a:pPr>
            <a:r>
              <a:rPr lang="en-US" dirty="0"/>
              <a:t>var </a:t>
            </a:r>
            <a:r>
              <a:rPr lang="en-US" dirty="0" err="1"/>
              <a:t>sayHi</a:t>
            </a:r>
            <a:r>
              <a:rPr lang="en-US" dirty="0"/>
              <a:t> = function() {</a:t>
            </a:r>
          </a:p>
          <a:p>
            <a:pPr marL="400050" lvl="1" indent="0">
              <a:buNone/>
            </a:pPr>
            <a:r>
              <a:rPr lang="en-US" dirty="0"/>
              <a:t>    </a:t>
            </a:r>
            <a:r>
              <a:rPr lang="en-US" dirty="0" err="1"/>
              <a:t>console.log</a:t>
            </a:r>
            <a:r>
              <a:rPr lang="en-US" dirty="0"/>
              <a:t>("Hello");</a:t>
            </a:r>
          </a:p>
          <a:p>
            <a:pPr marL="400050" lvl="1" indent="0">
              <a:buNone/>
            </a:pPr>
            <a:r>
              <a:rPr lang="en-US" dirty="0"/>
              <a:t>};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IN" sz="2000" dirty="0"/>
              <a:t>Only the </a:t>
            </a:r>
            <a:r>
              <a:rPr lang="en-IN" sz="2000" b="1" dirty="0"/>
              <a:t>variable </a:t>
            </a:r>
            <a:r>
              <a:rPr lang="en-IN" sz="2000" b="1" dirty="0" err="1"/>
              <a:t>sayHi</a:t>
            </a:r>
            <a:r>
              <a:rPr lang="en-IN" sz="2000" b="1" dirty="0"/>
              <a:t> is hoisted</a:t>
            </a:r>
            <a:r>
              <a:rPr lang="en-IN" sz="2000" dirty="0"/>
              <a:t>, not the function assigned to it. So when </a:t>
            </a:r>
            <a:r>
              <a:rPr lang="en-IN" sz="2000" dirty="0" err="1"/>
              <a:t>sayHi</a:t>
            </a:r>
            <a:r>
              <a:rPr lang="en-IN" sz="2000" dirty="0"/>
              <a:t>() is called, it's still undefined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33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F3B7-7F25-8B23-7C46-66CB7166D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173"/>
          </a:xfrm>
        </p:spPr>
        <p:txBody>
          <a:bodyPr/>
          <a:lstStyle/>
          <a:p>
            <a:r>
              <a:rPr lang="en-US" dirty="0" err="1"/>
              <a:t>CallBack</a:t>
            </a:r>
            <a:r>
              <a:rPr lang="en-US" dirty="0"/>
              <a:t>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DDD07-F724-DCC1-1F83-A96767A3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0812"/>
            <a:ext cx="8229600" cy="5055352"/>
          </a:xfrm>
        </p:spPr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callback</a:t>
            </a:r>
            <a:r>
              <a:rPr lang="en-IN" dirty="0"/>
              <a:t> is a function passed as an </a:t>
            </a:r>
            <a:r>
              <a:rPr lang="en-IN" b="1" dirty="0"/>
              <a:t>argument to another function</a:t>
            </a:r>
            <a:r>
              <a:rPr lang="en-IN" dirty="0"/>
              <a:t>, and it's called later.</a:t>
            </a:r>
            <a:endParaRPr lang="en-US" dirty="0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443A373-CF54-E702-8E3A-05EA8504F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36" y="2214564"/>
            <a:ext cx="5638800" cy="3911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1665D4-0EC2-7B99-D15B-AC18CAA000CE}"/>
              </a:ext>
            </a:extLst>
          </p:cNvPr>
          <p:cNvSpPr/>
          <p:nvPr/>
        </p:nvSpPr>
        <p:spPr>
          <a:xfrm>
            <a:off x="6641432" y="3789947"/>
            <a:ext cx="1588168" cy="3804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pic>
        <p:nvPicPr>
          <p:cNvPr id="8" name="Picture 7" descr="A close up of black text&#10;&#10;AI-generated content may be incorrect.">
            <a:extLst>
              <a:ext uri="{FF2B5EF4-FFF2-40B4-BE49-F238E27FC236}">
                <a16:creationId xmlns:a16="http://schemas.microsoft.com/office/drawing/2014/main" id="{D3ADDA3A-78F6-D0C0-C0A7-EC934C078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18" y="4630487"/>
            <a:ext cx="18415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45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52CD-BECC-65AF-2F07-89D30252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29DF6-F34D-DE49-832A-5245F038D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greet takes two parameters: name and callback </a:t>
            </a:r>
          </a:p>
          <a:p>
            <a:r>
              <a:rPr lang="en-IN" dirty="0"/>
              <a:t>It prints the greeting, then </a:t>
            </a:r>
            <a:r>
              <a:rPr lang="en-IN" b="1" dirty="0"/>
              <a:t>calls</a:t>
            </a:r>
            <a:r>
              <a:rPr lang="en-IN" dirty="0"/>
              <a:t> the callback function </a:t>
            </a:r>
          </a:p>
          <a:p>
            <a:r>
              <a:rPr lang="en-IN" dirty="0" err="1"/>
              <a:t>sayBye</a:t>
            </a:r>
            <a:r>
              <a:rPr lang="en-IN" dirty="0"/>
              <a:t> is passed in as a callback and runs after the greeting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578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5857"/>
          </a:xfrm>
        </p:spPr>
        <p:txBody>
          <a:bodyPr>
            <a:normAutofit/>
          </a:bodyPr>
          <a:lstStyle/>
          <a:p>
            <a:r>
              <a:rPr dirty="0"/>
              <a:t>Returning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1126"/>
            <a:ext cx="8229600" cy="4935037"/>
          </a:xfrm>
        </p:spPr>
        <p:txBody>
          <a:bodyPr>
            <a:normAutofit fontScale="55000" lnSpcReduction="20000"/>
          </a:bodyPr>
          <a:lstStyle/>
          <a:p>
            <a:r>
              <a:rPr sz="3500" dirty="0"/>
              <a:t>Functions can return other functions</a:t>
            </a:r>
          </a:p>
          <a:p>
            <a:r>
              <a:rPr sz="3500" dirty="0"/>
              <a:t>Useful for closures</a:t>
            </a:r>
          </a:p>
          <a:p>
            <a:pPr marL="0" indent="0">
              <a:buNone/>
            </a:pPr>
            <a:endParaRPr sz="3500" dirty="0"/>
          </a:p>
          <a:p>
            <a:pPr marL="800100" lvl="2" indent="0">
              <a:buNone/>
            </a:pPr>
            <a:r>
              <a:rPr lang="en-US" sz="3500" dirty="0"/>
              <a:t>function outer() {</a:t>
            </a:r>
          </a:p>
          <a:p>
            <a:pPr marL="800100" lvl="2" indent="0">
              <a:buNone/>
            </a:pPr>
            <a:r>
              <a:rPr lang="en-US" sz="3500" dirty="0"/>
              <a:t>    let count = 0;</a:t>
            </a:r>
          </a:p>
          <a:p>
            <a:pPr marL="800100" lvl="2" indent="0">
              <a:buNone/>
            </a:pPr>
            <a:endParaRPr lang="en-US" sz="3500" dirty="0"/>
          </a:p>
          <a:p>
            <a:pPr marL="800100" lvl="2" indent="0">
              <a:buNone/>
            </a:pPr>
            <a:r>
              <a:rPr lang="en-US" sz="3500" dirty="0"/>
              <a:t>      function inner() {</a:t>
            </a:r>
          </a:p>
          <a:p>
            <a:pPr marL="800100" lvl="2" indent="0">
              <a:buNone/>
            </a:pPr>
            <a:r>
              <a:rPr lang="en-US" sz="3500" dirty="0"/>
              <a:t>          count++;</a:t>
            </a:r>
          </a:p>
          <a:p>
            <a:pPr marL="800100" lvl="2" indent="0">
              <a:buNone/>
            </a:pPr>
            <a:r>
              <a:rPr lang="en-US" sz="3500" dirty="0"/>
              <a:t>          </a:t>
            </a:r>
            <a:r>
              <a:rPr lang="en-US" sz="3500" dirty="0" err="1"/>
              <a:t>console.log</a:t>
            </a:r>
            <a:r>
              <a:rPr lang="en-US" sz="3500" dirty="0"/>
              <a:t>("Count:", count);</a:t>
            </a:r>
          </a:p>
          <a:p>
            <a:pPr marL="800100" lvl="2" indent="0">
              <a:buNone/>
            </a:pPr>
            <a:r>
              <a:rPr lang="en-US" sz="3500" dirty="0"/>
              <a:t>      }</a:t>
            </a:r>
          </a:p>
          <a:p>
            <a:pPr marL="800100" lvl="2" indent="0">
              <a:buNone/>
            </a:pPr>
            <a:endParaRPr lang="en-US" sz="3500" dirty="0"/>
          </a:p>
          <a:p>
            <a:pPr marL="800100" lvl="2" indent="0">
              <a:buNone/>
            </a:pPr>
            <a:r>
              <a:rPr lang="en-US" sz="3500" dirty="0"/>
              <a:t>    return inner;</a:t>
            </a:r>
          </a:p>
          <a:p>
            <a:pPr marL="800100" lvl="2" indent="0">
              <a:buNone/>
            </a:pPr>
            <a:r>
              <a:rPr lang="en-US" sz="3500" dirty="0"/>
              <a:t>}</a:t>
            </a:r>
          </a:p>
          <a:p>
            <a:pPr marL="800100" lvl="2" indent="0">
              <a:buNone/>
            </a:pPr>
            <a:endParaRPr lang="en-US" sz="3500" dirty="0"/>
          </a:p>
          <a:p>
            <a:pPr marL="800100" lvl="2" indent="0">
              <a:buNone/>
            </a:pPr>
            <a:r>
              <a:rPr lang="en-US" sz="3500" dirty="0"/>
              <a:t>const counter = outer();  </a:t>
            </a:r>
            <a:r>
              <a:rPr lang="en-US" sz="3500" dirty="0">
                <a:solidFill>
                  <a:schemeClr val="accent1"/>
                </a:solidFill>
              </a:rPr>
              <a:t>// outer() runs and returns inner()</a:t>
            </a:r>
          </a:p>
          <a:p>
            <a:pPr marL="800100" lvl="2" indent="0">
              <a:buNone/>
            </a:pPr>
            <a:r>
              <a:rPr lang="en-US" sz="3500" dirty="0"/>
              <a:t>counter();                          </a:t>
            </a:r>
            <a:r>
              <a:rPr lang="en-US" sz="3500" dirty="0">
                <a:solidFill>
                  <a:schemeClr val="accent1"/>
                </a:solidFill>
              </a:rPr>
              <a:t>// Count: 1</a:t>
            </a:r>
          </a:p>
          <a:p>
            <a:pPr marL="800100" lvl="2" indent="0">
              <a:buNone/>
            </a:pPr>
            <a:r>
              <a:rPr lang="en-US" sz="3500" dirty="0"/>
              <a:t>counter();                        </a:t>
            </a:r>
            <a:r>
              <a:rPr lang="en-US" sz="3500" dirty="0">
                <a:solidFill>
                  <a:schemeClr val="accent1"/>
                </a:solidFill>
              </a:rPr>
              <a:t>// Count: 2</a:t>
            </a:r>
          </a:p>
          <a:p>
            <a:pPr marL="800100" lvl="2" indent="0">
              <a:buNone/>
            </a:pPr>
            <a:r>
              <a:rPr lang="en-US" sz="3500" dirty="0"/>
              <a:t>counter();                      </a:t>
            </a:r>
            <a:r>
              <a:rPr lang="en-US" sz="3500" dirty="0">
                <a:solidFill>
                  <a:schemeClr val="accent1"/>
                </a:solidFill>
              </a:rPr>
              <a:t>// Count: 3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Hands-On Challenge!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Write a function that:</a:t>
            </a:r>
          </a:p>
          <a:p>
            <a:r>
              <a:rPr dirty="0"/>
              <a:t>Takes a person's name and age.</a:t>
            </a:r>
          </a:p>
          <a:p>
            <a:r>
              <a:rPr dirty="0"/>
              <a:t>Returns whether they can legally drive.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3936-A3B7-3A9B-FB2D-857486113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D0C53-A74D-C51D-80AD-DB3EFC98F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function </a:t>
            </a:r>
            <a:r>
              <a:rPr lang="en-IN" dirty="0" err="1"/>
              <a:t>canDrive</a:t>
            </a:r>
            <a:r>
              <a:rPr lang="en-IN" dirty="0"/>
              <a:t>(name, age) {</a:t>
            </a:r>
          </a:p>
          <a:p>
            <a:pPr marL="400050" lvl="1" indent="0">
              <a:buNone/>
            </a:pPr>
            <a:r>
              <a:rPr lang="en-IN" dirty="0"/>
              <a:t>    return age &gt;= 18 ? `${name} can drive!`  : `${name} cannot drive yet`;</a:t>
            </a:r>
          </a:p>
          <a:p>
            <a:pPr marL="400050" lvl="1" indent="0">
              <a:buNone/>
            </a:pPr>
            <a:r>
              <a:rPr lang="en-IN" dirty="0"/>
              <a:t>}</a:t>
            </a:r>
          </a:p>
          <a:p>
            <a:pPr marL="400050" lvl="1" indent="0">
              <a:buNone/>
            </a:pPr>
            <a:r>
              <a:rPr lang="en-IN" dirty="0" err="1"/>
              <a:t>console.log</a:t>
            </a:r>
            <a:r>
              <a:rPr lang="en-IN" dirty="0"/>
              <a:t>(</a:t>
            </a:r>
            <a:r>
              <a:rPr lang="en-IN" dirty="0" err="1"/>
              <a:t>canDrive</a:t>
            </a:r>
            <a:r>
              <a:rPr lang="en-IN" dirty="0"/>
              <a:t>('Bob', 16));</a:t>
            </a:r>
          </a:p>
          <a:p>
            <a:pPr marL="400050" lvl="1" indent="0">
              <a:buNone/>
            </a:pPr>
            <a:endParaRPr lang="en-IN" dirty="0"/>
          </a:p>
          <a:p>
            <a:pPr marL="40005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Can be also written as: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return age &gt;= 18 ? name + “ can drive!”  : name + “cannot drive yet”;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773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4385</TotalTime>
  <Words>2028</Words>
  <Application>Microsoft Macintosh PowerPoint</Application>
  <PresentationFormat>On-screen Show (4:3)</PresentationFormat>
  <Paragraphs>268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Helvetica</vt:lpstr>
      <vt:lpstr>Times New Roman</vt:lpstr>
      <vt:lpstr>Office Theme</vt:lpstr>
      <vt:lpstr>JavaScript Functions</vt:lpstr>
      <vt:lpstr>What is a Function</vt:lpstr>
      <vt:lpstr>What are Functions in JavaScript?</vt:lpstr>
      <vt:lpstr>Why Do We Need Functions?</vt:lpstr>
      <vt:lpstr>PowerPoint Presentation</vt:lpstr>
      <vt:lpstr>Examples of Functions</vt:lpstr>
      <vt:lpstr>Types of JavaScript Functions</vt:lpstr>
      <vt:lpstr>Types of JavaScript Functions</vt:lpstr>
      <vt:lpstr>Types of JavaScript Functions</vt:lpstr>
      <vt:lpstr>Function Parameters &amp; Arguments</vt:lpstr>
      <vt:lpstr>Example📝</vt:lpstr>
      <vt:lpstr>Return Values</vt:lpstr>
      <vt:lpstr>Function Scope in JavaScript</vt:lpstr>
      <vt:lpstr>Example: Scope Behavior</vt:lpstr>
      <vt:lpstr>PowerPoint Presentation</vt:lpstr>
      <vt:lpstr>What does this code do?</vt:lpstr>
      <vt:lpstr>PowerPoint Presentation</vt:lpstr>
      <vt:lpstr>PowerPoint Presentation</vt:lpstr>
      <vt:lpstr>Importance of Scope Control</vt:lpstr>
      <vt:lpstr>What is the output?</vt:lpstr>
      <vt:lpstr>PowerPoint Presentation</vt:lpstr>
      <vt:lpstr>Immediate Functions (IIFE)</vt:lpstr>
      <vt:lpstr>Why use Immediate Functions</vt:lpstr>
      <vt:lpstr>With a regular function declaration</vt:lpstr>
      <vt:lpstr>What happens now</vt:lpstr>
      <vt:lpstr>With immediate function- complete isolation</vt:lpstr>
      <vt:lpstr>When is This Useful?</vt:lpstr>
      <vt:lpstr>Closures In Javascript</vt:lpstr>
      <vt:lpstr>Simple Example of a Closure:</vt:lpstr>
      <vt:lpstr>PowerPoint Presentation</vt:lpstr>
      <vt:lpstr>Hoisting in Javascript</vt:lpstr>
      <vt:lpstr>Example: Function Declarations are Hoisted</vt:lpstr>
      <vt:lpstr> Function Expressions are not hoisted </vt:lpstr>
      <vt:lpstr>CallBack Functions</vt:lpstr>
      <vt:lpstr>How it works</vt:lpstr>
      <vt:lpstr>Returning Functions</vt:lpstr>
      <vt:lpstr>Hands-On Challenge!</vt:lpstr>
      <vt:lpstr>Solution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Khan Mehnaz</cp:lastModifiedBy>
  <cp:revision>31</cp:revision>
  <dcterms:created xsi:type="dcterms:W3CDTF">2013-01-27T09:14:16Z</dcterms:created>
  <dcterms:modified xsi:type="dcterms:W3CDTF">2025-03-23T17:49:14Z</dcterms:modified>
  <cp:category/>
</cp:coreProperties>
</file>